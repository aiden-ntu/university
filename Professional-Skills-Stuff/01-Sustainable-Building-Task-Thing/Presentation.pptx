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02F74-FA0A-821B-F86C-0927E35CC010}" v="713" dt="2026-10-20T13:31:45.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Zakieta 2026 (N1505320)" userId="S::n1505320@my.ntu.ac.uk::2ce17caa-3c23-4564-9d0a-ca275779a3cb" providerId="AD" clId="Web-{D6D02F74-FA0A-821B-F86C-0927E35CC010}"/>
    <pc:docChg chg="modSld">
      <pc:chgData name="Martin Zakieta 2026 (N1505320)" userId="S::n1505320@my.ntu.ac.uk::2ce17caa-3c23-4564-9d0a-ca275779a3cb" providerId="AD" clId="Web-{D6D02F74-FA0A-821B-F86C-0927E35CC010}" dt="2026-10-20T13:31:45.706" v="721" actId="20577"/>
      <pc:docMkLst>
        <pc:docMk/>
      </pc:docMkLst>
      <pc:sldChg chg="modSp">
        <pc:chgData name="Martin Zakieta 2026 (N1505320)" userId="S::n1505320@my.ntu.ac.uk::2ce17caa-3c23-4564-9d0a-ca275779a3cb" providerId="AD" clId="Web-{D6D02F74-FA0A-821B-F86C-0927E35CC010}" dt="2026-10-20T13:31:45.706" v="721" actId="20577"/>
        <pc:sldMkLst>
          <pc:docMk/>
          <pc:sldMk cId="4091500524" sldId="257"/>
        </pc:sldMkLst>
        <pc:spChg chg="mod">
          <ac:chgData name="Martin Zakieta 2026 (N1505320)" userId="S::n1505320@my.ntu.ac.uk::2ce17caa-3c23-4564-9d0a-ca275779a3cb" providerId="AD" clId="Web-{D6D02F74-FA0A-821B-F86C-0927E35CC010}" dt="2026-10-20T13:31:45.706" v="721" actId="20577"/>
          <ac:spMkLst>
            <pc:docMk/>
            <pc:sldMk cId="4091500524" sldId="257"/>
            <ac:spMk id="3" creationId="{D8DFAF8D-3DC0-9408-9FA0-146B756AA5EF}"/>
          </ac:spMkLst>
        </pc:spChg>
      </pc:sldChg>
      <pc:sldChg chg="modSp">
        <pc:chgData name="Martin Zakieta 2026 (N1505320)" userId="S::n1505320@my.ntu.ac.uk::2ce17caa-3c23-4564-9d0a-ca275779a3cb" providerId="AD" clId="Web-{D6D02F74-FA0A-821B-F86C-0927E35CC010}" dt="2026-10-20T13:30:58.704" v="713" actId="20577"/>
        <pc:sldMkLst>
          <pc:docMk/>
          <pc:sldMk cId="1015141916" sldId="258"/>
        </pc:sldMkLst>
        <pc:spChg chg="mod">
          <ac:chgData name="Martin Zakieta 2026 (N1505320)" userId="S::n1505320@my.ntu.ac.uk::2ce17caa-3c23-4564-9d0a-ca275779a3cb" providerId="AD" clId="Web-{D6D02F74-FA0A-821B-F86C-0927E35CC010}" dt="2026-10-20T13:30:58.704" v="713" actId="20577"/>
          <ac:spMkLst>
            <pc:docMk/>
            <pc:sldMk cId="1015141916" sldId="258"/>
            <ac:spMk id="3" creationId="{A47ED674-A25A-BC6A-9CD3-F8E681808509}"/>
          </ac:spMkLst>
        </pc:spChg>
      </pc:sldChg>
      <pc:sldChg chg="modSp">
        <pc:chgData name="Martin Zakieta 2026 (N1505320)" userId="S::n1505320@my.ntu.ac.uk::2ce17caa-3c23-4564-9d0a-ca275779a3cb" providerId="AD" clId="Web-{D6D02F74-FA0A-821B-F86C-0927E35CC010}" dt="2026-10-20T13:13:57.886" v="12" actId="20577"/>
        <pc:sldMkLst>
          <pc:docMk/>
          <pc:sldMk cId="1647569575" sldId="259"/>
        </pc:sldMkLst>
        <pc:spChg chg="mod">
          <ac:chgData name="Martin Zakieta 2026 (N1505320)" userId="S::n1505320@my.ntu.ac.uk::2ce17caa-3c23-4564-9d0a-ca275779a3cb" providerId="AD" clId="Web-{D6D02F74-FA0A-821B-F86C-0927E35CC010}" dt="2026-10-20T13:13:46.542" v="8" actId="1076"/>
          <ac:spMkLst>
            <pc:docMk/>
            <pc:sldMk cId="1647569575" sldId="259"/>
            <ac:spMk id="2" creationId="{DB98E260-916A-B6D7-6EA9-364C6C48AED0}"/>
          </ac:spMkLst>
        </pc:spChg>
        <pc:spChg chg="mod">
          <ac:chgData name="Martin Zakieta 2026 (N1505320)" userId="S::n1505320@my.ntu.ac.uk::2ce17caa-3c23-4564-9d0a-ca275779a3cb" providerId="AD" clId="Web-{D6D02F74-FA0A-821B-F86C-0927E35CC010}" dt="2026-10-20T13:13:57.886" v="12" actId="20577"/>
          <ac:spMkLst>
            <pc:docMk/>
            <pc:sldMk cId="1647569575" sldId="259"/>
            <ac:spMk id="3" creationId="{D9F0F2D9-6AAC-E574-F295-F17A1FEA319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08DA-BAC1-1115-9272-C65BF41AE80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4A95E6F-0F93-92D9-D63F-96AD6C36E5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BCCB4E5-5D6D-68EF-E7E0-810A909CC885}"/>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5" name="Footer Placeholder 4">
            <a:extLst>
              <a:ext uri="{FF2B5EF4-FFF2-40B4-BE49-F238E27FC236}">
                <a16:creationId xmlns:a16="http://schemas.microsoft.com/office/drawing/2014/main" id="{40B63AD7-0FB5-8A13-88AF-3927749E2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0173AE-130D-10FE-995D-EE410C69FD7D}"/>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1188115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012AE-20CF-C178-7BBC-469F9A1E70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E18A646-6A3A-65B8-7EBC-B25F8381A66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42D3193-8C1C-B806-C3F4-9610CD6CA16A}"/>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5" name="Footer Placeholder 4">
            <a:extLst>
              <a:ext uri="{FF2B5EF4-FFF2-40B4-BE49-F238E27FC236}">
                <a16:creationId xmlns:a16="http://schemas.microsoft.com/office/drawing/2014/main" id="{EAC00CAF-138C-240C-4291-B9557F48CF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84A11-A172-DBD4-1752-C9F2E65EE1DE}"/>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1375049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AF5EF-FF72-90F2-7DF4-BD3FFD41D9E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D472817-533F-E74B-1018-892DAFF7FB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98B984D-3D60-04CB-3127-434DFCE4CAFB}"/>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5" name="Footer Placeholder 4">
            <a:extLst>
              <a:ext uri="{FF2B5EF4-FFF2-40B4-BE49-F238E27FC236}">
                <a16:creationId xmlns:a16="http://schemas.microsoft.com/office/drawing/2014/main" id="{7F28DE34-0F21-EB9B-488E-06E13FADA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B03CBA-FBEC-2B87-E82D-CAE44822D50C}"/>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3725566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69A2C-8212-62F2-D91E-DBBD0D7069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5A8C60-232E-C427-6BC0-BD4ED75EF55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5A70CE4-C39E-3A3A-3EBE-8D4D2C1481A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281C749-2AF6-0EAC-30BC-1C9EAEDB3D7D}"/>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6" name="Footer Placeholder 5">
            <a:extLst>
              <a:ext uri="{FF2B5EF4-FFF2-40B4-BE49-F238E27FC236}">
                <a16:creationId xmlns:a16="http://schemas.microsoft.com/office/drawing/2014/main" id="{A3893D39-203C-4044-B5B0-B9DF84636B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1087E5-E9DF-E9A3-C8F4-26F3AC4145E0}"/>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1597918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010C-6957-2101-D0F9-BA26138468A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DAB0F2-A254-4723-887F-35FBF131DC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1B69477-F5BA-9B58-EE41-57978387FC9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805A84C-D8E6-0B2B-0E9B-760A9271CB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99D2B09-2ED8-0BBC-7B3D-11FBAC4D909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AAFB1B5-65CD-D91C-B670-A70F9B2AEE24}"/>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8" name="Footer Placeholder 7">
            <a:extLst>
              <a:ext uri="{FF2B5EF4-FFF2-40B4-BE49-F238E27FC236}">
                <a16:creationId xmlns:a16="http://schemas.microsoft.com/office/drawing/2014/main" id="{1A7D02F6-6544-6E27-646C-89D3B21AFF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2A54B5-9642-BABD-1EDE-AFBB3062A843}"/>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378140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61E95-4461-3AD6-1596-0B47CD3CFCB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261659B-2C0D-199D-BD77-C868A0804FA4}"/>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4" name="Footer Placeholder 3">
            <a:extLst>
              <a:ext uri="{FF2B5EF4-FFF2-40B4-BE49-F238E27FC236}">
                <a16:creationId xmlns:a16="http://schemas.microsoft.com/office/drawing/2014/main" id="{282E229A-3191-916E-7E59-D54D36F70A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21D2DE-4A33-3CC0-63FF-86E15B78DB50}"/>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491091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64BB83-2AA8-8372-D5B0-D79D134F2185}"/>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3" name="Footer Placeholder 2">
            <a:extLst>
              <a:ext uri="{FF2B5EF4-FFF2-40B4-BE49-F238E27FC236}">
                <a16:creationId xmlns:a16="http://schemas.microsoft.com/office/drawing/2014/main" id="{CF425E00-D1FB-348A-65A3-388588DB77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578DE3-BC51-E5B4-692F-4B1FD6B3D70D}"/>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2862003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9A1B-6C29-F6BA-CF13-AC9739B5E8C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2F857C1-786A-507B-A05F-CC0B9E143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FA1BD54-EBD7-7505-3862-79A8D974FE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5076A5C-B59D-EDF2-2A24-7E9FE9C56F5C}"/>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6" name="Footer Placeholder 5">
            <a:extLst>
              <a:ext uri="{FF2B5EF4-FFF2-40B4-BE49-F238E27FC236}">
                <a16:creationId xmlns:a16="http://schemas.microsoft.com/office/drawing/2014/main" id="{3EA9195B-6681-1BE1-35EF-A0BF1D5F99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7CEF96-A172-4704-6677-6F7C24040389}"/>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2040080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AC91B-60C6-7C8B-7896-F5BF6EC10E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078639A-AC2C-8CCA-1EAA-1C7A47BA979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34AF36-6591-163C-7352-AD3707BB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EAD047-267A-8F82-9B43-60540F6E7688}"/>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6" name="Footer Placeholder 5">
            <a:extLst>
              <a:ext uri="{FF2B5EF4-FFF2-40B4-BE49-F238E27FC236}">
                <a16:creationId xmlns:a16="http://schemas.microsoft.com/office/drawing/2014/main" id="{D92C344E-E009-AA52-886F-6BBD1EBCB5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8B56EF-798D-597C-4093-B2C2ED99A552}"/>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3186099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5451-5877-2F9C-875B-16E092E3F76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304AF2-EA47-5B85-C77C-C52A9C5B987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6C9C07-04DD-5755-DAD6-E687F382051E}"/>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5" name="Footer Placeholder 4">
            <a:extLst>
              <a:ext uri="{FF2B5EF4-FFF2-40B4-BE49-F238E27FC236}">
                <a16:creationId xmlns:a16="http://schemas.microsoft.com/office/drawing/2014/main" id="{4C605A9B-6D09-9571-42B4-D4EF4B599B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590913-9DD5-C995-F357-CBF723144524}"/>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4276473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ABE83-6530-4415-B610-F85A5555EAF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AD64794-B62D-A971-0101-A9C8CE61D62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53C80D-7241-F7D6-FA5B-CD03B9214361}"/>
              </a:ext>
            </a:extLst>
          </p:cNvPr>
          <p:cNvSpPr>
            <a:spLocks noGrp="1"/>
          </p:cNvSpPr>
          <p:nvPr>
            <p:ph type="dt" sz="half" idx="10"/>
          </p:nvPr>
        </p:nvSpPr>
        <p:spPr/>
        <p:txBody>
          <a:bodyPr/>
          <a:lstStyle/>
          <a:p>
            <a:fld id="{020FF469-5009-AA47-AE38-EF8FE1A65D26}" type="datetimeFigureOut">
              <a:rPr lang="en-US" smtClean="0"/>
              <a:t>10/20/2026</a:t>
            </a:fld>
            <a:endParaRPr lang="en-US"/>
          </a:p>
        </p:txBody>
      </p:sp>
      <p:sp>
        <p:nvSpPr>
          <p:cNvPr id="5" name="Footer Placeholder 4">
            <a:extLst>
              <a:ext uri="{FF2B5EF4-FFF2-40B4-BE49-F238E27FC236}">
                <a16:creationId xmlns:a16="http://schemas.microsoft.com/office/drawing/2014/main" id="{678F4016-03B9-B1AB-2FDA-D58DF336E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BAD6E0-902F-AF9A-CF0B-F729F8477FEB}"/>
              </a:ext>
            </a:extLst>
          </p:cNvPr>
          <p:cNvSpPr>
            <a:spLocks noGrp="1"/>
          </p:cNvSpPr>
          <p:nvPr>
            <p:ph type="sldNum" sz="quarter" idx="12"/>
          </p:nvPr>
        </p:nvSpPr>
        <p:spPr/>
        <p:txBody>
          <a:bodyPr/>
          <a:lstStyle/>
          <a:p>
            <a:fld id="{AA85C686-42E2-F442-831C-857FE4EE0DF6}" type="slidenum">
              <a:rPr lang="en-US" smtClean="0"/>
              <a:t>‹#›</a:t>
            </a:fld>
            <a:endParaRPr lang="en-US"/>
          </a:p>
        </p:txBody>
      </p:sp>
    </p:spTree>
    <p:extLst>
      <p:ext uri="{BB962C8B-B14F-4D97-AF65-F5344CB8AC3E}">
        <p14:creationId xmlns:p14="http://schemas.microsoft.com/office/powerpoint/2010/main" val="2418239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09FBA5-5161-54D3-6022-BE5E0A72C9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68344AE-0604-C386-1DD1-EAF9FB1283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7E31E2-DEDE-05FB-0A3E-D63DF5A1B5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0FF469-5009-AA47-AE38-EF8FE1A65D26}" type="datetimeFigureOut">
              <a:rPr lang="en-US" smtClean="0"/>
              <a:t>10/20/2026</a:t>
            </a:fld>
            <a:endParaRPr lang="en-US"/>
          </a:p>
        </p:txBody>
      </p:sp>
      <p:sp>
        <p:nvSpPr>
          <p:cNvPr id="5" name="Footer Placeholder 4">
            <a:extLst>
              <a:ext uri="{FF2B5EF4-FFF2-40B4-BE49-F238E27FC236}">
                <a16:creationId xmlns:a16="http://schemas.microsoft.com/office/drawing/2014/main" id="{B54DE203-37DF-CA34-B651-76F8C960CF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A97F69-86B0-570D-2728-C33389F59F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85C686-42E2-F442-831C-857FE4EE0DF6}" type="slidenum">
              <a:rPr lang="en-US" smtClean="0"/>
              <a:t>‹#›</a:t>
            </a:fld>
            <a:endParaRPr lang="en-US"/>
          </a:p>
        </p:txBody>
      </p:sp>
    </p:spTree>
    <p:extLst>
      <p:ext uri="{BB962C8B-B14F-4D97-AF65-F5344CB8AC3E}">
        <p14:creationId xmlns:p14="http://schemas.microsoft.com/office/powerpoint/2010/main" val="1968877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enoteq.com/k-bri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naturalbuildingstore.com/product-category/hempcrete/" TargetMode="External"/><Relationship Id="rId2" Type="http://schemas.openxmlformats.org/officeDocument/2006/relationships/hyperlink" Target="https://en.wikipedia.org/wiki/Hempcrete" TargetMode="External"/><Relationship Id="rId1" Type="http://schemas.openxmlformats.org/officeDocument/2006/relationships/slideLayout" Target="../slideLayouts/slideLayout2.xml"/><Relationship Id="rId6" Type="http://schemas.openxmlformats.org/officeDocument/2006/relationships/hyperlink" Target="https://www.youtube.com/watch?v=IsM7OqEOiFM&amp;t=65" TargetMode="External"/><Relationship Id="rId5" Type="http://schemas.openxmlformats.org/officeDocument/2006/relationships/hyperlink" Target="https://www.ukhempcrete.com/?faq-group=about-hempcrete" TargetMode="External"/><Relationship Id="rId4" Type="http://schemas.openxmlformats.org/officeDocument/2006/relationships/hyperlink" Target="https://www.ukhempcrete.com/building-with-hempcret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B1972-6B47-4F46-D4D3-5C7987ECE655}"/>
              </a:ext>
            </a:extLst>
          </p:cNvPr>
          <p:cNvSpPr>
            <a:spLocks noGrp="1"/>
          </p:cNvSpPr>
          <p:nvPr>
            <p:ph type="ctrTitle"/>
          </p:nvPr>
        </p:nvSpPr>
        <p:spPr/>
        <p:txBody>
          <a:bodyPr/>
          <a:lstStyle/>
          <a:p>
            <a:r>
              <a:rPr lang="en-GB"/>
              <a:t>Sustainable Design</a:t>
            </a:r>
            <a:endParaRPr lang="en-US"/>
          </a:p>
        </p:txBody>
      </p:sp>
      <p:sp>
        <p:nvSpPr>
          <p:cNvPr id="3" name="Subtitle 2">
            <a:extLst>
              <a:ext uri="{FF2B5EF4-FFF2-40B4-BE49-F238E27FC236}">
                <a16:creationId xmlns:a16="http://schemas.microsoft.com/office/drawing/2014/main" id="{3A41F93F-AACE-CEFC-1E5C-72E195CC326F}"/>
              </a:ext>
            </a:extLst>
          </p:cNvPr>
          <p:cNvSpPr>
            <a:spLocks noGrp="1"/>
          </p:cNvSpPr>
          <p:nvPr>
            <p:ph type="subTitle" idx="1"/>
          </p:nvPr>
        </p:nvSpPr>
        <p:spPr/>
        <p:txBody>
          <a:bodyPr/>
          <a:lstStyle/>
          <a:p>
            <a:r>
              <a:rPr lang="en-GB"/>
              <a:t>Team 1</a:t>
            </a:r>
            <a:endParaRPr lang="en-US"/>
          </a:p>
        </p:txBody>
      </p:sp>
    </p:spTree>
    <p:extLst>
      <p:ext uri="{BB962C8B-B14F-4D97-AF65-F5344CB8AC3E}">
        <p14:creationId xmlns:p14="http://schemas.microsoft.com/office/powerpoint/2010/main" val="3651659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B817C-543E-08D5-D4F5-09B6338491FB}"/>
              </a:ext>
            </a:extLst>
          </p:cNvPr>
          <p:cNvSpPr>
            <a:spLocks noGrp="1"/>
          </p:cNvSpPr>
          <p:nvPr>
            <p:ph type="title"/>
          </p:nvPr>
        </p:nvSpPr>
        <p:spPr/>
        <p:txBody>
          <a:bodyPr/>
          <a:lstStyle/>
          <a:p>
            <a:r>
              <a:rPr lang="en-GB"/>
              <a:t>Foundational Materials </a:t>
            </a:r>
            <a:endParaRPr lang="en-US"/>
          </a:p>
        </p:txBody>
      </p:sp>
      <p:sp>
        <p:nvSpPr>
          <p:cNvPr id="3" name="Content Placeholder 2">
            <a:extLst>
              <a:ext uri="{FF2B5EF4-FFF2-40B4-BE49-F238E27FC236}">
                <a16:creationId xmlns:a16="http://schemas.microsoft.com/office/drawing/2014/main" id="{D8DFAF8D-3DC0-9408-9FA0-146B756AA5EF}"/>
              </a:ext>
            </a:extLst>
          </p:cNvPr>
          <p:cNvSpPr>
            <a:spLocks noGrp="1"/>
          </p:cNvSpPr>
          <p:nvPr>
            <p:ph idx="1"/>
          </p:nvPr>
        </p:nvSpPr>
        <p:spPr>
          <a:xfrm>
            <a:off x="0" y="1210930"/>
            <a:ext cx="12192000" cy="5647070"/>
          </a:xfrm>
        </p:spPr>
        <p:txBody>
          <a:bodyPr vert="horz" lIns="91440" tIns="45720" rIns="91440" bIns="45720" rtlCol="0" anchor="t">
            <a:normAutofit lnSpcReduction="10000"/>
          </a:bodyPr>
          <a:lstStyle/>
          <a:p>
            <a:r>
              <a:rPr lang="en-GB" sz="1800"/>
              <a:t>For the construction of our work centre we have a few options:</a:t>
            </a:r>
          </a:p>
          <a:p>
            <a:r>
              <a:rPr lang="en-GB" sz="1800"/>
              <a:t>Timber – this provides a cheap and strong foundation plus framework for our building as it’s almost as good as steel beams and reduces carbon footprint by </a:t>
            </a:r>
            <a:r>
              <a:rPr lang="en-GB" sz="1800" err="1"/>
              <a:t>upto</a:t>
            </a:r>
            <a:r>
              <a:rPr lang="en-GB" sz="1800"/>
              <a:t> 40% and is easy to acquire. </a:t>
            </a:r>
          </a:p>
          <a:p>
            <a:r>
              <a:rPr lang="en-GB" sz="1800" err="1"/>
              <a:t>Ferrock</a:t>
            </a:r>
            <a:r>
              <a:rPr lang="en-GB" sz="1800"/>
              <a:t>- a revolutionary discovery from 2002, that completely traps co2 and acts as a cement. This would be great if we didn’t have a budget as it’s structural integrity even exceeds that of regular concrete whilst also making us very sustainable as it’s completely carbon negative and will last a very long time.</a:t>
            </a:r>
          </a:p>
          <a:p>
            <a:r>
              <a:rPr lang="en-GB" sz="1800"/>
              <a:t>K-Briq Blocks – This is a brick alternative to creating the framework is possibly the single most sustainable material we could use due to it being 100% recycled and are much easier to use causing a reduction of 90% in energy usage whilst preparing each brick.</a:t>
            </a:r>
          </a:p>
          <a:p>
            <a:pPr marL="0" indent="0">
              <a:buNone/>
            </a:pPr>
            <a:endParaRPr lang="en-GB" sz="1800"/>
          </a:p>
          <a:p>
            <a:pPr marL="0" indent="0">
              <a:buNone/>
            </a:pPr>
            <a:r>
              <a:rPr lang="en-GB" sz="1800"/>
              <a:t>After further consideration following the pre-existing materials used on campus, K-Briq Blocks would fit the structure a lot more </a:t>
            </a:r>
            <a:r>
              <a:rPr lang="en-GB" sz="1800" err="1"/>
              <a:t>seamlessley</a:t>
            </a:r>
            <a:r>
              <a:rPr lang="en-GB" sz="1800"/>
              <a:t> and provide us with the best benefits, some of which are :</a:t>
            </a:r>
          </a:p>
          <a:p>
            <a:pPr marL="0" indent="0">
              <a:buNone/>
            </a:pPr>
            <a:r>
              <a:rPr lang="en-GB" sz="1800" b="1">
                <a:ea typeface="+mn-lt"/>
                <a:cs typeface="+mn-lt"/>
              </a:rPr>
              <a:t>Compressive strength of 30 N/mm², water absorption of 2%, and durability rating of F2.</a:t>
            </a:r>
          </a:p>
          <a:p>
            <a:pPr marL="0" indent="0">
              <a:buNone/>
            </a:pPr>
            <a:r>
              <a:rPr lang="en-GB" sz="1800" b="1">
                <a:ea typeface="+mn-lt"/>
                <a:cs typeface="+mn-lt"/>
              </a:rPr>
              <a:t>Contains under 20g </a:t>
            </a:r>
            <a:r>
              <a:rPr lang="en-GB" sz="1800" b="1" err="1">
                <a:ea typeface="+mn-lt"/>
                <a:cs typeface="+mn-lt"/>
              </a:rPr>
              <a:t>CO₂e</a:t>
            </a:r>
            <a:r>
              <a:rPr lang="en-GB" sz="1800" b="1">
                <a:ea typeface="+mn-lt"/>
                <a:cs typeface="+mn-lt"/>
              </a:rPr>
              <a:t> per unit—producing up to 95% less embodied carbon than a standard clay brick.</a:t>
            </a:r>
            <a:endParaRPr lang="en-GB" b="1">
              <a:ea typeface="+mn-lt"/>
              <a:cs typeface="+mn-lt"/>
            </a:endParaRPr>
          </a:p>
          <a:p>
            <a:pPr marL="0" indent="0">
              <a:buNone/>
            </a:pPr>
            <a:r>
              <a:rPr lang="en-GB" sz="1800" b="1">
                <a:ea typeface="+mn-lt"/>
                <a:cs typeface="+mn-lt"/>
              </a:rPr>
              <a:t>Made from near 100% recycled debris (such as crushed brick, mortar, gravel, and plasterboard).</a:t>
            </a:r>
            <a:endParaRPr lang="en-GB" b="1">
              <a:ea typeface="+mn-lt"/>
              <a:cs typeface="+mn-lt"/>
            </a:endParaRPr>
          </a:p>
          <a:p>
            <a:pPr marL="0" indent="0">
              <a:buNone/>
            </a:pPr>
            <a:r>
              <a:rPr lang="en-GB" sz="1800" b="1">
                <a:ea typeface="+mn-lt"/>
                <a:cs typeface="+mn-lt"/>
              </a:rPr>
              <a:t>Unfired and cured at low temperatures, which avoids high-energy kiln firing.</a:t>
            </a:r>
          </a:p>
          <a:p>
            <a:pPr marL="0" indent="0">
              <a:buNone/>
            </a:pPr>
            <a:r>
              <a:rPr lang="en-GB" sz="1800" b="1"/>
              <a:t>In addition to this, we don’t need to paint the exterior as </a:t>
            </a:r>
            <a:r>
              <a:rPr lang="en-GB" sz="1800" b="1" err="1"/>
              <a:t>clifton</a:t>
            </a:r>
            <a:r>
              <a:rPr lang="en-GB" sz="1800" b="1"/>
              <a:t> campus uses the bricks as the aesthetic.</a:t>
            </a:r>
          </a:p>
          <a:p>
            <a:pPr marL="0" indent="0">
              <a:buNone/>
            </a:pPr>
            <a:r>
              <a:rPr lang="en-GB" sz="1400">
                <a:hlinkClick r:id="rId2"/>
              </a:rPr>
              <a:t>https://www.kenoteq.com/k-briq</a:t>
            </a:r>
            <a:endParaRPr lang="en-GB" sz="1400"/>
          </a:p>
          <a:p>
            <a:pPr marL="0" indent="0">
              <a:buNone/>
            </a:pPr>
            <a:endParaRPr lang="en-GB" sz="1800"/>
          </a:p>
        </p:txBody>
      </p:sp>
    </p:spTree>
    <p:extLst>
      <p:ext uri="{BB962C8B-B14F-4D97-AF65-F5344CB8AC3E}">
        <p14:creationId xmlns:p14="http://schemas.microsoft.com/office/powerpoint/2010/main" val="40915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4D61B-975D-D755-CA02-FFF71E59BB8D}"/>
              </a:ext>
            </a:extLst>
          </p:cNvPr>
          <p:cNvSpPr>
            <a:spLocks noGrp="1"/>
          </p:cNvSpPr>
          <p:nvPr>
            <p:ph type="title"/>
          </p:nvPr>
        </p:nvSpPr>
        <p:spPr/>
        <p:txBody>
          <a:bodyPr/>
          <a:lstStyle/>
          <a:p>
            <a:r>
              <a:rPr lang="en-GB"/>
              <a:t>Walls </a:t>
            </a:r>
            <a:endParaRPr lang="en-US"/>
          </a:p>
        </p:txBody>
      </p:sp>
      <p:sp>
        <p:nvSpPr>
          <p:cNvPr id="3" name="Content Placeholder 2">
            <a:extLst>
              <a:ext uri="{FF2B5EF4-FFF2-40B4-BE49-F238E27FC236}">
                <a16:creationId xmlns:a16="http://schemas.microsoft.com/office/drawing/2014/main" id="{A47ED674-A25A-BC6A-9CD3-F8E681808509}"/>
              </a:ext>
            </a:extLst>
          </p:cNvPr>
          <p:cNvSpPr>
            <a:spLocks noGrp="1"/>
          </p:cNvSpPr>
          <p:nvPr>
            <p:ph idx="1"/>
          </p:nvPr>
        </p:nvSpPr>
        <p:spPr>
          <a:xfrm>
            <a:off x="1" y="1825624"/>
            <a:ext cx="12192000" cy="5032376"/>
          </a:xfrm>
        </p:spPr>
        <p:txBody>
          <a:bodyPr vert="horz" lIns="91440" tIns="45720" rIns="91440" bIns="45720" rtlCol="0" anchor="t">
            <a:normAutofit fontScale="92500" lnSpcReduction="10000"/>
          </a:bodyPr>
          <a:lstStyle/>
          <a:p>
            <a:r>
              <a:rPr lang="en-GB" sz="2000"/>
              <a:t>For walls we also have a variety of materials that could be effective in increasing our stability, but one seems perfect for our goal:</a:t>
            </a:r>
          </a:p>
          <a:p>
            <a:r>
              <a:rPr lang="en-GB" sz="2000"/>
              <a:t>Hempcrete- this is a bio composite compound featuring plants and lime binders. This could be used for infills, and thermal wrapping. This means that it’s practically a sustainable insulation for our walls, but it also provides sound </a:t>
            </a:r>
            <a:r>
              <a:rPr lang="en-GB" sz="2000" err="1"/>
              <a:t>reducting</a:t>
            </a:r>
            <a:r>
              <a:rPr lang="en-GB" sz="2000"/>
              <a:t> walls, and regulated internal humidity levels creating a better and more comfortable work environment. </a:t>
            </a:r>
          </a:p>
          <a:p>
            <a:endParaRPr lang="en-GB" sz="2000"/>
          </a:p>
          <a:p>
            <a:pPr marL="0" indent="0">
              <a:buNone/>
            </a:pPr>
            <a:r>
              <a:rPr lang="en-GB" sz="2000"/>
              <a:t>We are likely to use a mix of Hempcrete and K-Briq Blocks in development of this building. Hempcrete is likely gonna be used in unison with k-Briq Blocks as they lack structural integrity, in order to provide the vast benefits such as:</a:t>
            </a:r>
            <a:endParaRPr lang="en-GB" sz="1200" b="1">
              <a:ea typeface="+mn-lt"/>
              <a:cs typeface="+mn-lt"/>
            </a:endParaRPr>
          </a:p>
          <a:p>
            <a:pPr marL="0" indent="0">
              <a:buNone/>
            </a:pPr>
            <a:r>
              <a:rPr lang="en-GB" sz="1200" b="1">
                <a:ea typeface="+mn-lt"/>
                <a:cs typeface="+mn-lt"/>
              </a:rPr>
              <a:t>"Absorbing and releasing moisture vapor naturally, helping regulate indoor humidity (typically between 40% and 60%) and preventing condensation or black </a:t>
            </a:r>
            <a:r>
              <a:rPr lang="en-GB" sz="1200" b="1" err="1">
                <a:ea typeface="+mn-lt"/>
                <a:cs typeface="+mn-lt"/>
              </a:rPr>
              <a:t>mold</a:t>
            </a:r>
            <a:r>
              <a:rPr lang="en-GB" sz="1200" b="1">
                <a:ea typeface="+mn-lt"/>
                <a:cs typeface="+mn-lt"/>
              </a:rPr>
              <a:t>. "</a:t>
            </a:r>
            <a:endParaRPr lang="en-GB" sz="1200" b="1"/>
          </a:p>
          <a:p>
            <a:pPr marL="0" indent="0">
              <a:buNone/>
            </a:pPr>
            <a:r>
              <a:rPr lang="en-GB" sz="1200" b="1">
                <a:ea typeface="+mn-lt"/>
                <a:cs typeface="+mn-lt"/>
              </a:rPr>
              <a:t>"Providing both thermal mass and insulation, keeping buildings warmer in the winter and cooler in the summer while dampening sound. "</a:t>
            </a:r>
            <a:endParaRPr lang="en-GB" sz="1200" b="1"/>
          </a:p>
          <a:p>
            <a:pPr marL="0" indent="0">
              <a:buNone/>
            </a:pPr>
            <a:r>
              <a:rPr lang="en-GB" sz="1200" b="1">
                <a:ea typeface="+mn-lt"/>
                <a:cs typeface="+mn-lt"/>
              </a:rPr>
              <a:t>"Fire, Pest, &amp; Rot Resistant: Due to the high alkalinity of the lime binder, it naturally repels </a:t>
            </a:r>
            <a:r>
              <a:rPr lang="en-GB" sz="1200" b="1" err="1">
                <a:ea typeface="+mn-lt"/>
                <a:cs typeface="+mn-lt"/>
              </a:rPr>
              <a:t>mold</a:t>
            </a:r>
            <a:r>
              <a:rPr lang="en-GB" sz="1200" b="1">
                <a:ea typeface="+mn-lt"/>
                <a:cs typeface="+mn-lt"/>
              </a:rPr>
              <a:t>, insects, rodents, and fire."</a:t>
            </a:r>
            <a:endParaRPr lang="en-GB" sz="2000" b="1">
              <a:ea typeface="+mn-lt"/>
              <a:cs typeface="+mn-lt"/>
            </a:endParaRPr>
          </a:p>
          <a:p>
            <a:pPr marL="0" indent="0">
              <a:buNone/>
            </a:pPr>
            <a:r>
              <a:rPr lang="en-GB" sz="1200" b="1">
                <a:ea typeface="+mn-lt"/>
                <a:cs typeface="+mn-lt"/>
              </a:rPr>
              <a:t>"Carbon-Negative: Hemp plants absorb high amounts of CO₂ while growing, and the lime binder continues to carbonate over time, locking away more carbon than is emitted during its production."</a:t>
            </a:r>
            <a:r>
              <a:rPr lang="en-GB" sz="2000" b="1">
                <a:ea typeface="+mn-lt"/>
                <a:cs typeface="+mn-lt"/>
              </a:rPr>
              <a:t> </a:t>
            </a:r>
          </a:p>
          <a:p>
            <a:pPr marL="0" indent="0">
              <a:buNone/>
            </a:pPr>
            <a:r>
              <a:rPr lang="en-GB" sz="600" b="1">
                <a:hlinkClick r:id="rId2"/>
              </a:rPr>
              <a:t>https://en.wikipedia.org/wiki/Hempcrete</a:t>
            </a:r>
            <a:endParaRPr lang="en-GB" sz="600"/>
          </a:p>
          <a:p>
            <a:pPr marL="0" indent="0">
              <a:buNone/>
            </a:pPr>
            <a:r>
              <a:rPr lang="en-GB" sz="600" b="1">
                <a:hlinkClick r:id="rId3"/>
              </a:rPr>
              <a:t>https://naturalbuildingstore.com/product-category/hempcrete/</a:t>
            </a:r>
            <a:endParaRPr lang="en-GB" sz="600"/>
          </a:p>
          <a:p>
            <a:pPr marL="0" indent="0">
              <a:buNone/>
            </a:pPr>
            <a:r>
              <a:rPr lang="en-GB" sz="600" b="1">
                <a:hlinkClick r:id="rId4"/>
              </a:rPr>
              <a:t>https://www.ukhempcrete.com/building-with-hempcrete/</a:t>
            </a:r>
            <a:endParaRPr lang="en-GB" sz="600"/>
          </a:p>
          <a:p>
            <a:pPr marL="0" indent="0">
              <a:buNone/>
            </a:pPr>
            <a:r>
              <a:rPr lang="en-GB" sz="600" b="1">
                <a:hlinkClick r:id="rId5"/>
              </a:rPr>
              <a:t>https://www.ukhempcrete.com/?faq-group=about-hempcrete</a:t>
            </a:r>
            <a:endParaRPr lang="en-GB" sz="600"/>
          </a:p>
          <a:p>
            <a:pPr marL="0" indent="0">
              <a:buNone/>
            </a:pPr>
            <a:r>
              <a:rPr lang="en-GB" sz="600" b="1">
                <a:hlinkClick r:id="rId6"/>
              </a:rPr>
              <a:t>https://www.youtube.com/watch?v=IsM7OqEOiFM&amp;t=65</a:t>
            </a:r>
            <a:endParaRPr lang="en-GB" sz="600"/>
          </a:p>
          <a:p>
            <a:pPr marL="0" indent="0">
              <a:buNone/>
            </a:pPr>
            <a:endParaRPr lang="en-GB" sz="2000" b="1"/>
          </a:p>
        </p:txBody>
      </p:sp>
    </p:spTree>
    <p:extLst>
      <p:ext uri="{BB962C8B-B14F-4D97-AF65-F5344CB8AC3E}">
        <p14:creationId xmlns:p14="http://schemas.microsoft.com/office/powerpoint/2010/main" val="1015141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E260-916A-B6D7-6EA9-364C6C48AED0}"/>
              </a:ext>
            </a:extLst>
          </p:cNvPr>
          <p:cNvSpPr>
            <a:spLocks noGrp="1"/>
          </p:cNvSpPr>
          <p:nvPr>
            <p:ph type="title"/>
          </p:nvPr>
        </p:nvSpPr>
        <p:spPr>
          <a:xfrm>
            <a:off x="3132" y="-217"/>
            <a:ext cx="10515600" cy="1325563"/>
          </a:xfrm>
        </p:spPr>
        <p:txBody>
          <a:bodyPr/>
          <a:lstStyle/>
          <a:p>
            <a:r>
              <a:rPr lang="en-GB"/>
              <a:t>Interior and finishing materials </a:t>
            </a:r>
            <a:endParaRPr lang="en-US"/>
          </a:p>
        </p:txBody>
      </p:sp>
      <p:sp>
        <p:nvSpPr>
          <p:cNvPr id="3" name="Content Placeholder 2">
            <a:extLst>
              <a:ext uri="{FF2B5EF4-FFF2-40B4-BE49-F238E27FC236}">
                <a16:creationId xmlns:a16="http://schemas.microsoft.com/office/drawing/2014/main" id="{D9F0F2D9-6AAC-E574-F295-F17A1FEA319F}"/>
              </a:ext>
            </a:extLst>
          </p:cNvPr>
          <p:cNvSpPr>
            <a:spLocks noGrp="1"/>
          </p:cNvSpPr>
          <p:nvPr>
            <p:ph idx="1"/>
          </p:nvPr>
        </p:nvSpPr>
        <p:spPr>
          <a:xfrm>
            <a:off x="0" y="1324583"/>
            <a:ext cx="12192000" cy="5032376"/>
          </a:xfrm>
        </p:spPr>
        <p:txBody>
          <a:bodyPr vert="horz" lIns="91440" tIns="45720" rIns="91440" bIns="45720" rtlCol="0" anchor="t">
            <a:normAutofit/>
          </a:bodyPr>
          <a:lstStyle/>
          <a:p>
            <a:r>
              <a:rPr lang="en-GB" sz="2000"/>
              <a:t>In order to raise our sustainability on the certification, we need to follow standards provided by BREAM or LEAD.</a:t>
            </a:r>
          </a:p>
          <a:p>
            <a:r>
              <a:rPr lang="en-GB" sz="2000"/>
              <a:t>Flooring- Any recycled carpet tiles. These give us a 100% recycled flooring , whilst also being good for our work environment. This also provides a continuous design along the floors and can be separated easily, or even cut into the perfect dimensions prior to being delivered</a:t>
            </a:r>
          </a:p>
          <a:p>
            <a:r>
              <a:rPr lang="en-GB" sz="2000"/>
              <a:t>Partitions- we could utilise demountable glass walls. This will maximise natural light, minimise drywall waste if we ever have repairs or expansions, and mostly just reduces carbon footprint by eliminating the possibility of negative materials being used as drywall. </a:t>
            </a:r>
          </a:p>
          <a:p>
            <a:r>
              <a:rPr lang="en-GB" sz="2000"/>
              <a:t>Coating-Zero VOC paint. This paint is incredible compared to others minimising airborne chemicals by </a:t>
            </a:r>
            <a:r>
              <a:rPr lang="en-GB" sz="2000" err="1"/>
              <a:t>upto</a:t>
            </a:r>
            <a:r>
              <a:rPr lang="en-GB" sz="2000"/>
              <a:t> 90% upon application, and makes sure the environment is ready to work, and ecosystems aren’t affected</a:t>
            </a:r>
          </a:p>
          <a:p>
            <a:endParaRPr lang="en-GB" sz="2000"/>
          </a:p>
          <a:p>
            <a:pPr marL="0" indent="0">
              <a:buNone/>
            </a:pPr>
            <a:endParaRPr lang="en-GB" sz="2000"/>
          </a:p>
        </p:txBody>
      </p:sp>
    </p:spTree>
    <p:extLst>
      <p:ext uri="{BB962C8B-B14F-4D97-AF65-F5344CB8AC3E}">
        <p14:creationId xmlns:p14="http://schemas.microsoft.com/office/powerpoint/2010/main" val="1647569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1F932-E75D-9D87-006C-27A387A54A43}"/>
              </a:ext>
            </a:extLst>
          </p:cNvPr>
          <p:cNvSpPr>
            <a:spLocks noGrp="1"/>
          </p:cNvSpPr>
          <p:nvPr>
            <p:ph type="title"/>
          </p:nvPr>
        </p:nvSpPr>
        <p:spPr/>
        <p:txBody>
          <a:bodyPr/>
          <a:lstStyle/>
          <a:p>
            <a:r>
              <a:rPr lang="en-GB"/>
              <a:t>Sustainable Technology</a:t>
            </a:r>
            <a:endParaRPr lang="en-US"/>
          </a:p>
        </p:txBody>
      </p:sp>
      <p:sp>
        <p:nvSpPr>
          <p:cNvPr id="3" name="Content Placeholder 2">
            <a:extLst>
              <a:ext uri="{FF2B5EF4-FFF2-40B4-BE49-F238E27FC236}">
                <a16:creationId xmlns:a16="http://schemas.microsoft.com/office/drawing/2014/main" id="{A594B4E0-9AFE-A2F1-02D0-17D3D0D17F0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43042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Sustainable Design</vt:lpstr>
      <vt:lpstr>Foundational Materials </vt:lpstr>
      <vt:lpstr>Walls </vt:lpstr>
      <vt:lpstr>Interior and finishing materials </vt:lpstr>
      <vt:lpstr>Sustainable Technology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Design</dc:title>
  <dc:creator>Martin Zakieta 2026 (N1505320)</dc:creator>
  <cp:revision>1</cp:revision>
  <dcterms:created xsi:type="dcterms:W3CDTF">2026-10-20T11:18:26Z</dcterms:created>
  <dcterms:modified xsi:type="dcterms:W3CDTF">2026-10-20T13:31:50Z</dcterms:modified>
</cp:coreProperties>
</file>